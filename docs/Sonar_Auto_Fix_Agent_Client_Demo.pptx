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CLIENT DEMO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200" b="1" i="0">
                <a:solidFill>
                  <a:srgbClr val="12161D"/>
                </a:solidFill>
                <a:latin typeface="Arial"/>
              </a:rPr>
              <a:t>Sonar Auto-Fix </a:t>
            </a:r>
            <a:r>
              <a:rPr sz="5200" b="1" i="0">
                <a:solidFill>
                  <a:srgbClr val="0F7D6B"/>
                </a:solidFill>
                <a:latin typeface="Arial"/>
              </a:rP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800" b="0" i="1">
                <a:solidFill>
                  <a:srgbClr val="52585F"/>
                </a:solidFill>
                <a:latin typeface="Georgia"/>
              </a:rPr>
              <a:t>An AI teammate that finds and fixes code quality and security issues automatically — and proves every fix is safe before it's accepted.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97280" cy="347472"/>
          </a:xfrm>
          <a:prstGeom prst="roundRect">
            <a:avLst>
              <a:gd name="adj" fmla="val 20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2585F"/>
                </a:solidFill>
                <a:latin typeface="Courier New"/>
              </a:rPr>
              <a:t>AI-Powered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526280"/>
            <a:ext cx="1645920" cy="347472"/>
          </a:xfrm>
          <a:prstGeom prst="roundRect">
            <a:avLst>
              <a:gd name="adj" fmla="val 20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2585F"/>
                </a:solidFill>
                <a:latin typeface="Courier New"/>
              </a:rPr>
              <a:t>Enterprise-Ready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4526280"/>
            <a:ext cx="1463040" cy="347472"/>
          </a:xfrm>
          <a:prstGeom prst="roundRect">
            <a:avLst>
              <a:gd name="adj" fmla="val 20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 i="0">
                <a:solidFill>
                  <a:srgbClr val="52585F"/>
                </a:solidFill>
                <a:latin typeface="Courier New"/>
              </a:rPr>
              <a:t>Human-Verified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1 — PURPOSE &amp;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200" b="1" i="0">
                <a:solidFill>
                  <a:srgbClr val="12161D"/>
                </a:solidFill>
                <a:latin typeface="Arial"/>
              </a:rPr>
              <a:t>Automating technical debt,</a:t>
            </a:r>
          </a:p>
          <a:p>
            <a:pPr>
              <a:lnSpc>
                <a:spcPct val="106000"/>
              </a:lnSpc>
            </a:pPr>
            <a:r>
              <a:rPr sz="3200" b="1" i="0">
                <a:solidFill>
                  <a:srgbClr val="12161D"/>
                </a:solidFill>
                <a:latin typeface="Arial"/>
              </a:rPr>
              <a:t>to accelerate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2161D"/>
                </a:solidFill>
                <a:latin typeface="Georgia"/>
              </a:rPr>
              <a:t>Every codebase quietly builds up debt over time — security gaps, bugs, and messy code. Finding and fixing it by hand is slow work that pulls developers away from building new features. </a:t>
            </a:r>
            <a:r>
              <a:rPr sz="1500" b="1" i="0">
                <a:solidFill>
                  <a:srgbClr val="12161D"/>
                </a:solidFill>
                <a:latin typeface="Georgia"/>
              </a:rPr>
              <a:t>The Agent does this automatically — and checks its own work before anything reaches your codebase.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6118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DDECE9"/>
          </a:solidFill>
          <a:ln w="12700">
            <a:solidFill>
              <a:srgbClr val="0F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831336"/>
            <a:ext cx="4581144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52585F"/>
                </a:solidFill>
                <a:latin typeface="Courier New"/>
              </a:rPr>
              <a:t>TODAY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Issues reviewed and fixed one at a time, by hand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Fixes queued for “someday” — often never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Quality work competes with feature deadlines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831336"/>
            <a:ext cx="4581144" cy="196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0F7D6B"/>
                </a:solidFill>
                <a:latin typeface="Courier New"/>
              </a:rPr>
              <a:t>WITH THE AGENT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Issues found and fixed automatically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Fixed continuously, in the background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Developers focus on building, not clean-up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2 — HOW IT HELPS &amp; END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Empowering the engineering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0428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DEVELOPERS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Less time on repetitive clean-up work. More time building what actually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4759" y="230428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ENGINEERING MANAGERS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Steady, predictable quality improvement you can see every sprint — not just a scramble before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9884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VPS &amp; CTOS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A lower-risk codebase and a healthier engineering organization, without adding headcount.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297680"/>
            <a:ext cx="5181447" cy="1965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4498848"/>
            <a:ext cx="4669383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LEADERSHIP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Faster time-to-market — quality and security work happens continuously, not as a blocker before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3 — CORE ADVANTAGES OF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Enterprise speed &amp; enterprise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406908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8727" y="2103120"/>
            <a:ext cx="5181447" cy="406908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40864"/>
            <a:ext cx="4596231" cy="3611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 spc="120">
                <a:solidFill>
                  <a:srgbClr val="0F7D6B"/>
                </a:solidFill>
                <a:latin typeface="Courier New"/>
              </a:rPr>
              <a:t>SPEED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2161D"/>
                </a:solidFill>
                <a:latin typeface="Georgia"/>
              </a:rPr>
              <a:t>Fixes dozens of files in one run — in minutes, not days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2161D"/>
                </a:solidFill>
                <a:latin typeface="Georgia"/>
              </a:rPr>
              <a:t>Runs continuously, not just in a pre-release scramble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50" b="0" i="0">
                <a:solidFill>
                  <a:srgbClr val="12161D"/>
                </a:solidFill>
                <a:latin typeface="Georgia"/>
              </a:rPr>
              <a:t>One consistent standard, applied every single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304288"/>
            <a:ext cx="4596231" cy="370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 spc="120">
                <a:solidFill>
                  <a:srgbClr val="0F7D6B"/>
                </a:solidFill>
                <a:latin typeface="Courier New"/>
              </a:rPr>
              <a:t>SECURITY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Every fix is compiled, tested, and re-checked before it's accepted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Strictly scoped to Sonar fixes only — it politely declines anything else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Instructed to never introduce new issues — stays within the exact flagged problem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Sensitive judgment calls are flagged for a human — never guessed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Connects to GitHub and Sonar only through secure, scoped API tokens</a:t>
            </a:r>
          </a:p>
          <a:p>
            <a:pPr>
              <a:lnSpc>
                <a:spcPct val="128000"/>
              </a:lnSpc>
              <a:spcBef>
                <a:spcPts val="1000"/>
              </a:spcBef>
            </a:pPr>
            <a:r>
              <a:rPr sz="13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300" b="0" i="0">
                <a:solidFill>
                  <a:srgbClr val="12161D"/>
                </a:solidFill>
                <a:latin typeface="Georgia"/>
              </a:rPr>
              <a:t>Every run starts from a clean workspace on a brand-new branch — nothing carries 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COST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Pay for what you use — nothing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2161D"/>
                </a:solidFill>
                <a:latin typeface="Georgia"/>
              </a:rPr>
              <a:t>The Agent runs on Google's enterprise Gemini API — a metered, pay-per-use model. There's no flat, black-box license fee to guess 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181447" cy="306324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3319272"/>
            <a:ext cx="4669383" cy="2551176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520440"/>
            <a:ext cx="4193895" cy="2185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 i="0">
                <a:solidFill>
                  <a:srgbClr val="0F7D6B"/>
                </a:solidFill>
                <a:latin typeface="Courier New"/>
              </a:rPr>
              <a:t>~275K tokens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300" b="0" i="0">
                <a:solidFill>
                  <a:srgbClr val="52585F"/>
                </a:solidFill>
                <a:latin typeface="Georgia"/>
              </a:rPr>
              <a:t>consumed in a real, complete run that fixed 16 files, start to finish — exactly what today's runs actually use, not an estimate.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063240"/>
            <a:ext cx="5181447" cy="306324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3319272"/>
            <a:ext cx="4596231" cy="2606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0F7D6B"/>
                </a:solidFill>
                <a:latin typeface="Courier New"/>
              </a:rPr>
              <a:t>FULLY TRANSPARENT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Every run ends with a full usage report — exact tokens consumed, every time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Cost scales naturally with usage — a small project costs little</a:t>
            </a:r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Nothing hidden — engineering and finance both see exactly what was spent, run by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What's powering this, and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52585F"/>
                </a:solidFill>
                <a:latin typeface="Courier New"/>
              </a:rPr>
              <a:t>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002182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Gemini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AI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8294" y="2121408"/>
            <a:ext cx="1422806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Google ADK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5692" y="2121408"/>
            <a:ext cx="1422806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Python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AGENT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3090" y="2121408"/>
            <a:ext cx="1338681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SonarQube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CODE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52928"/>
            <a:ext cx="1506931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GitHub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SOURCE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043" y="2852928"/>
            <a:ext cx="1591055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Java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TARGET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8690" y="2852928"/>
            <a:ext cx="1506931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Maven / Gradle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BUILD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0213" y="2852928"/>
            <a:ext cx="1591055" cy="603504"/>
          </a:xfrm>
          <a:prstGeom prst="roundRect">
            <a:avLst>
              <a:gd name="adj" fmla="val 14000"/>
            </a:avLst>
          </a:prstGeom>
          <a:solidFill>
            <a:srgbClr val="FBFCFA"/>
          </a:solidFill>
          <a:ln w="12700">
            <a:solidFill>
              <a:srgbClr val="B7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 i="0">
                <a:solidFill>
                  <a:srgbClr val="12161D"/>
                </a:solidFill>
                <a:latin typeface="Arial"/>
              </a:rPr>
              <a:t>GCP</a:t>
            </a:r>
          </a:p>
          <a:p>
            <a:pPr algn="ctr">
              <a:spcBef>
                <a:spcPts val="200"/>
              </a:spcBef>
            </a:pPr>
            <a:r>
              <a:rPr sz="850" b="0" i="0" spc="60">
                <a:solidFill>
                  <a:srgbClr val="52585F"/>
                </a:solidFill>
                <a:latin typeface="Courier New"/>
              </a:rPr>
              <a:t>PLANNED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52585F"/>
                </a:solidFill>
                <a:latin typeface="Courier New"/>
              </a:rPr>
              <a:t>HOW IT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769" y="3950207"/>
            <a:ext cx="457200" cy="457200"/>
          </a:xfrm>
          <a:prstGeom prst="ellipse">
            <a:avLst/>
          </a:prstGeom>
          <a:solidFill>
            <a:srgbClr val="0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333C66"/>
                </a:solidFill>
                <a:latin typeface="Courier New"/>
              </a:rPr>
              <a:t>CONNECT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Securely links to your GitHub &amp; SonarQube using API tokens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21219.0" y="4178807"/>
            <a:ext cx="320040.0" cy="0"/>
          </a:xfrm>
          <a:prstGeom prst="line">
            <a:avLst/>
          </a:prstGeom>
          <a:ln w="19050">
            <a:solidFill>
              <a:srgbClr val="B7BD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41259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57508" y="3950207"/>
            <a:ext cx="457200" cy="457200"/>
          </a:xfrm>
          <a:prstGeom prst="ellipse">
            <a:avLst/>
          </a:prstGeom>
          <a:solidFill>
            <a:srgbClr val="0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9275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333C66"/>
                </a:solidFill>
                <a:latin typeface="Courier New"/>
              </a:rPr>
              <a:t>FETCH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Pulls the current list of code quality &amp; security issues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30958.0" y="4178807"/>
            <a:ext cx="320040.0" cy="0"/>
          </a:xfrm>
          <a:prstGeom prst="line">
            <a:avLst/>
          </a:prstGeom>
          <a:ln w="19050">
            <a:solidFill>
              <a:srgbClr val="B7BD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50998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67247" y="3950207"/>
            <a:ext cx="457200" cy="457200"/>
          </a:xfrm>
          <a:prstGeom prst="ellipse">
            <a:avLst/>
          </a:prstGeom>
          <a:solidFill>
            <a:srgbClr val="0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9014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333C66"/>
                </a:solidFill>
                <a:latin typeface="Courier New"/>
              </a:rPr>
              <a:t>FIX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AI generates a fix for one issue at a 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0697.0" y="4178807"/>
            <a:ext cx="320040.0" cy="0"/>
          </a:xfrm>
          <a:prstGeom prst="line">
            <a:avLst/>
          </a:prstGeom>
          <a:ln w="19050">
            <a:solidFill>
              <a:srgbClr val="B7BD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60737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76986" y="3950207"/>
            <a:ext cx="457200" cy="457200"/>
          </a:xfrm>
          <a:prstGeom prst="ellipse">
            <a:avLst/>
          </a:prstGeom>
          <a:solidFill>
            <a:srgbClr val="0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753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333C66"/>
                </a:solidFill>
                <a:latin typeface="Courier New"/>
              </a:rPr>
              <a:t>VERIFY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Every fix is built, tested, and automatically re-scanned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50436.0" y="4178807"/>
            <a:ext cx="320040.0" cy="0"/>
          </a:xfrm>
          <a:prstGeom prst="line">
            <a:avLst/>
          </a:prstGeom>
          <a:ln w="19050">
            <a:solidFill>
              <a:srgbClr val="B7BD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70476" y="3749039"/>
            <a:ext cx="1889699" cy="1965960"/>
          </a:xfrm>
          <a:prstGeom prst="roundRect">
            <a:avLst>
              <a:gd name="adj" fmla="val 7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6725" y="3950207"/>
            <a:ext cx="457200" cy="457200"/>
          </a:xfrm>
          <a:prstGeom prst="ellipse">
            <a:avLst/>
          </a:prstGeom>
          <a:solidFill>
            <a:srgbClr val="0F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8492" y="4535423"/>
            <a:ext cx="1633667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80">
                <a:solidFill>
                  <a:srgbClr val="333C66"/>
                </a:solidFill>
                <a:latin typeface="Courier New"/>
              </a:rPr>
              <a:t>DELIVER</a:t>
            </a:r>
          </a:p>
          <a:p>
            <a:pPr algn="ctr">
              <a:lnSpc>
                <a:spcPct val="125000"/>
              </a:lnSpc>
              <a:spcBef>
                <a:spcPts val="500"/>
              </a:spcBef>
            </a:pPr>
            <a:r>
              <a:rPr sz="1100" b="0" i="0">
                <a:solidFill>
                  <a:srgbClr val="52585F"/>
                </a:solidFill>
                <a:latin typeface="Georgia"/>
              </a:rPr>
              <a:t>Verified fixes land on a new branch, ready for your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One file, fully fixed —</a:t>
            </a:r>
          </a:p>
          <a:p>
            <a:pPr>
              <a:lnSpc>
                <a:spcPct val="106000"/>
              </a:lnSpc>
            </a:pPr>
            <a:r>
              <a:rPr sz="3000" b="1" i="0">
                <a:solidFill>
                  <a:srgbClr val="12161D"/>
                </a:solidFill>
                <a:latin typeface="Arial"/>
              </a:rPr>
              <a:t>not issue by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2161D"/>
                </a:solidFill>
                <a:latin typeface="Georgia"/>
              </a:rPr>
              <a:t>Most tools fix problems one line at a time — the same file gets opened and edited over and over, and fixes can quietly work against each other. </a:t>
            </a:r>
            <a:r>
              <a:rPr sz="1500" b="1" i="0">
                <a:solidFill>
                  <a:srgbClr val="12161D"/>
                </a:solidFill>
                <a:latin typeface="Georgia"/>
              </a:rPr>
              <a:t>The Agent looks at every issue in a file together, and produces one complete, coherent fix in a single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5166360" cy="2514600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429000"/>
            <a:ext cx="5166360" cy="2514600"/>
          </a:xfrm>
          <a:prstGeom prst="roundRect">
            <a:avLst>
              <a:gd name="adj" fmla="val 5000"/>
            </a:avLst>
          </a:prstGeom>
          <a:solidFill>
            <a:srgbClr val="DDECE9"/>
          </a:solidFill>
          <a:ln w="12700">
            <a:solidFill>
              <a:srgbClr val="0F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648456"/>
            <a:ext cx="4581144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52585F"/>
                </a:solidFill>
                <a:latin typeface="Courier New"/>
              </a:rPr>
              <a:t>LINE-BY-LINE (THE OLD WAY)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Each issue fixed in isolation, one small edit at a time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Fixes can quietly conflict with each other in the same file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Many small AI calls — slower and more expensive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52585F"/>
                </a:solidFill>
                <a:latin typeface="Courier New"/>
              </a:rPr>
              <a:t>•  </a:t>
            </a:r>
            <a:r>
              <a:rPr sz="1400" b="0" i="0">
                <a:solidFill>
                  <a:srgbClr val="52585F"/>
                </a:solidFill>
                <a:latin typeface="Georgia"/>
              </a:rPr>
              <a:t>The file is only “done” after many separate passes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3648456"/>
            <a:ext cx="4581144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50" b="1" i="0" spc="100">
                <a:solidFill>
                  <a:srgbClr val="0F7D6B"/>
                </a:solidFill>
                <a:latin typeface="Courier New"/>
              </a:rPr>
              <a:t>FILE-BY-FILE (OUR APPROACH)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Every issue in the file is understood together, in context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One coherent, complete fix for the whole file, in a single pass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Fewer AI calls — faster and more cost-efficient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1400" b="1" i="0">
                <a:solidFill>
                  <a:srgbClr val="0F7D6B"/>
                </a:solidFill>
                <a:latin typeface="Courier New"/>
              </a:rPr>
              <a:t>✓  </a:t>
            </a:r>
            <a:r>
              <a:rPr sz="1400" b="0" i="0">
                <a:solidFill>
                  <a:srgbClr val="12161D"/>
                </a:solidFill>
                <a:latin typeface="Georgia"/>
              </a:rPr>
              <a:t>The whole file is verified as one working unit before moving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3200" b="1" i="0">
                <a:solidFill>
                  <a:srgbClr val="12161D"/>
                </a:solidFill>
                <a:latin typeface="Arial"/>
              </a:rPr>
              <a:t>Three ways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0000"/>
              </a:lnSpc>
            </a:pPr>
            <a:r>
              <a:rPr sz="1500" b="0" i="1">
                <a:solidFill>
                  <a:srgbClr val="52585F"/>
                </a:solidFill>
                <a:latin typeface="Georgia"/>
              </a:rPr>
              <a:t>The Agent isn't locked to one workflow — it fits into however your team already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LOCAL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Run it directly from a developer's machine, or the ADK command line (adk run) — the simplest way to try it against a real project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5210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ADK WEB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A browser-based chat interface — tell it which repo to look at, and watch it fetch, fix, and verify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971800"/>
            <a:ext cx="3393338" cy="3108960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D3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2868" y="3172968"/>
            <a:ext cx="2881274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50" b="1" i="0" spc="100">
                <a:solidFill>
                  <a:srgbClr val="0F7D6B"/>
                </a:solidFill>
                <a:latin typeface="Courier New"/>
              </a:rPr>
              <a:t>GITHUB WORKFLOW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500" b="0" i="0">
                <a:solidFill>
                  <a:srgbClr val="12161D"/>
                </a:solidFill>
                <a:latin typeface="Georgia"/>
              </a:rPr>
              <a:t>Wire it into your CI/CD pipeline for scheduled or on-demand runs — fully hands-off, triggered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0F7D6B"/>
                </a:solidFill>
                <a:latin typeface="Courier New"/>
              </a:rPr>
              <a:t>— </a:t>
            </a:r>
            <a:r>
              <a:rPr sz="1300" b="1" i="0" spc="150">
                <a:solidFill>
                  <a:srgbClr val="0F7D6B"/>
                </a:solidFill>
                <a:latin typeface="Courier New"/>
              </a:rPr>
              <a:t>4 — PENDING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6000"/>
              </a:lnSpc>
            </a:pPr>
            <a:r>
              <a:rPr sz="2800" b="1" i="0">
                <a:solidFill>
                  <a:srgbClr val="12161D"/>
                </a:solidFill>
                <a:latin typeface="Arial"/>
              </a:rPr>
              <a:t>Current MVP status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D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 spc="50">
                <a:solidFill>
                  <a:srgbClr val="0F7D6B"/>
                </a:solidFill>
                <a:latin typeface="Courier New"/>
              </a:rPr>
              <a:t>TODAY —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2161D"/>
                </a:solidFill>
                <a:latin typeface="Georgia"/>
              </a:rPr>
              <a:t>Working today on real Java projects: automatic fixing with full verification, integrated with SonarQube. Proven, not theoretical.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27248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F1E4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227832"/>
            <a:ext cx="10195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5000"/>
              </a:lnSpc>
            </a:pPr>
            <a:r>
              <a:rPr sz="1250" b="1" i="0">
                <a:solidFill>
                  <a:srgbClr val="A6650F"/>
                </a:solidFill>
                <a:latin typeface="Georgia"/>
              </a:rPr>
              <a:t>Still maturing: </a:t>
            </a:r>
            <a:r>
              <a:rPr sz="1250" b="0" i="0">
                <a:solidFill>
                  <a:srgbClr val="12161D"/>
                </a:solidFill>
                <a:latin typeface="Georgia"/>
              </a:rPr>
              <a:t>on projects with a very large backlog of issues, reaching a perfect score in a single pass isn't guaranteed yet — every run shows real, measurable progress, and this keeps improving.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10698480" cy="2148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A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More specialized agents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one focused on duplication, one on test coverage, and more, so teams can target exactly what they need.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B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Support for more languages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beyond Java, extending to TypeScript/JavaScript, Python, and others.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C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Lower-cost options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private, self-hosted AI models for high-volume use.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D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Always-on cloud hosting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moving from a single local machine to scheduled, continuous runs across many projects.</a:t>
            </a:r>
          </a:p>
          <a:p>
            <a:pPr>
              <a:lnSpc>
                <a:spcPct val="132000"/>
              </a:lnSpc>
              <a:spcAft>
                <a:spcPts val="900"/>
              </a:spcAft>
            </a:pPr>
            <a:r>
              <a:rPr sz="1200" b="1" i="0">
                <a:solidFill>
                  <a:srgbClr val="0F7D6B"/>
                </a:solidFill>
                <a:latin typeface="Courier New"/>
              </a:rPr>
              <a:t>E   </a:t>
            </a:r>
            <a:r>
              <a:rPr sz="1250" b="1" i="0">
                <a:solidFill>
                  <a:srgbClr val="12161D"/>
                </a:solidFill>
                <a:latin typeface="Georgia"/>
              </a:rPr>
              <a:t>Extend to other tools — </a:t>
            </a:r>
            <a:r>
              <a:rPr sz="1250" b="0" i="0">
                <a:solidFill>
                  <a:srgbClr val="52585F"/>
                </a:solidFill>
                <a:latin typeface="Georgia"/>
              </a:rPr>
              <a:t>once the Sonar agent has matured, apply the same approach to SBOM, Veracode, Coverity, Black Duck, and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0" b="1" i="0">
                <a:solidFill>
                  <a:srgbClr val="0F7D6B"/>
                </a:solidFill>
                <a:latin typeface="Arial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52585F"/>
                </a:solidFill>
                <a:latin typeface="Courier New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