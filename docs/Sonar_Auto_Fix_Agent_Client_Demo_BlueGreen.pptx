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1657A6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1657A6"/>
                </a:solidFill>
                <a:latin typeface="Courier New"/>
              </a:rPr>
              <a:t>CLIENT DEMO ·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200" b="1" i="0">
                <a:solidFill>
                  <a:srgbClr val="101B2D"/>
                </a:solidFill>
                <a:latin typeface="Arial"/>
              </a:rPr>
              <a:t>Sonar Auto-Fix </a:t>
            </a:r>
            <a:r>
              <a:rPr sz="5200" b="1" i="0">
                <a:solidFill>
                  <a:srgbClr val="1657A6"/>
                </a:solidFill>
                <a:latin typeface="Arial"/>
              </a:rPr>
              <a:t>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800" b="0" i="1">
                <a:solidFill>
                  <a:srgbClr val="55647A"/>
                </a:solidFill>
                <a:latin typeface="Georgia"/>
              </a:rPr>
              <a:t>An AI teammate that finds and fixes code quality and security issues automatically — and proves every fix is safe before it's accepted.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26280"/>
            <a:ext cx="1097280" cy="347472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 w="12700">
            <a:solidFill>
              <a:srgbClr val="B7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55647A"/>
                </a:solidFill>
                <a:latin typeface="Courier New"/>
              </a:rPr>
              <a:t>AI-Powered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526280"/>
            <a:ext cx="1645920" cy="347472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 w="12700">
            <a:solidFill>
              <a:srgbClr val="B7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55647A"/>
                </a:solidFill>
                <a:latin typeface="Courier New"/>
              </a:rPr>
              <a:t>Enterprise-Ready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4526280"/>
            <a:ext cx="1463040" cy="347472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 w="12700">
            <a:solidFill>
              <a:srgbClr val="B7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55647A"/>
                </a:solidFill>
                <a:latin typeface="Courier New"/>
              </a:rPr>
              <a:t>Human-Verified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1657A6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1657A6"/>
                </a:solidFill>
                <a:latin typeface="Courier New"/>
              </a:rPr>
              <a:t>1 — PURPOSE &amp;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3200" b="1" i="0">
                <a:solidFill>
                  <a:srgbClr val="101B2D"/>
                </a:solidFill>
                <a:latin typeface="Arial"/>
              </a:rPr>
              <a:t>Automating technical debt,</a:t>
            </a:r>
          </a:p>
          <a:p>
            <a:pPr>
              <a:lnSpc>
                <a:spcPct val="106000"/>
              </a:lnSpc>
            </a:pPr>
            <a:r>
              <a:rPr sz="3200" b="1" i="0">
                <a:solidFill>
                  <a:srgbClr val="101B2D"/>
                </a:solidFill>
                <a:latin typeface="Arial"/>
              </a:rPr>
              <a:t>to accelerate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5647A"/>
                </a:solidFill>
                <a:latin typeface="Courier New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500" b="0" i="0">
                <a:solidFill>
                  <a:srgbClr val="101B2D"/>
                </a:solidFill>
                <a:latin typeface="Georgia"/>
              </a:rPr>
              <a:t>Every codebase quietly builds up debt over time — security gaps, bugs, and messy code. Finding and fixing it by hand is slow work that pulls developers away from building new features. </a:t>
            </a:r>
            <a:r>
              <a:rPr sz="1500" b="1" i="0">
                <a:solidFill>
                  <a:srgbClr val="101B2D"/>
                </a:solidFill>
                <a:latin typeface="Georgia"/>
              </a:rPr>
              <a:t>The Agent does this automatically — and checks its own work before anything reaches your codebase.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11880"/>
            <a:ext cx="5166360" cy="233172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3611880"/>
            <a:ext cx="5166360" cy="2331720"/>
          </a:xfrm>
          <a:prstGeom prst="roundRect">
            <a:avLst>
              <a:gd name="adj" fmla="val 5000"/>
            </a:avLst>
          </a:prstGeom>
          <a:solidFill>
            <a:srgbClr val="E3EEFA"/>
          </a:solidFill>
          <a:ln w="12700">
            <a:solidFill>
              <a:srgbClr val="1657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831336"/>
            <a:ext cx="4581144" cy="196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1" i="0" spc="100">
                <a:solidFill>
                  <a:srgbClr val="55647A"/>
                </a:solidFill>
                <a:latin typeface="Courier New"/>
              </a:rPr>
              <a:t>TODAY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55647A"/>
                </a:solidFill>
                <a:latin typeface="Courier New"/>
              </a:rPr>
              <a:t>•  </a:t>
            </a:r>
            <a:r>
              <a:rPr sz="1400" b="0" i="0">
                <a:solidFill>
                  <a:srgbClr val="55647A"/>
                </a:solidFill>
                <a:latin typeface="Georgia"/>
              </a:rPr>
              <a:t>Issues reviewed and fixed one at a time, by hand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55647A"/>
                </a:solidFill>
                <a:latin typeface="Courier New"/>
              </a:rPr>
              <a:t>•  </a:t>
            </a:r>
            <a:r>
              <a:rPr sz="1400" b="0" i="0">
                <a:solidFill>
                  <a:srgbClr val="55647A"/>
                </a:solidFill>
                <a:latin typeface="Georgia"/>
              </a:rPr>
              <a:t>Fixes queued for “someday” — often never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55647A"/>
                </a:solidFill>
                <a:latin typeface="Courier New"/>
              </a:rPr>
              <a:t>•  </a:t>
            </a:r>
            <a:r>
              <a:rPr sz="1400" b="0" i="0">
                <a:solidFill>
                  <a:srgbClr val="55647A"/>
                </a:solidFill>
                <a:latin typeface="Georgia"/>
              </a:rPr>
              <a:t>Quality work competes with feature deadlines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3831336"/>
            <a:ext cx="4581144" cy="196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1" i="0" spc="100">
                <a:solidFill>
                  <a:srgbClr val="1657A6"/>
                </a:solidFill>
                <a:latin typeface="Courier New"/>
              </a:rPr>
              <a:t>WITH THE AGENT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01B2D"/>
                </a:solidFill>
                <a:latin typeface="Georgia"/>
              </a:rPr>
              <a:t>Issues found and fixed automatically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01B2D"/>
                </a:solidFill>
                <a:latin typeface="Georgia"/>
              </a:rPr>
              <a:t>Fixed continuously, in the background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01B2D"/>
                </a:solidFill>
                <a:latin typeface="Georgia"/>
              </a:rPr>
              <a:t>Developers focus on building, not clean-up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1657A6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1657A6"/>
                </a:solidFill>
                <a:latin typeface="Courier New"/>
              </a:rPr>
              <a:t>2 — HOW IT HELPS &amp; END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101B2D"/>
                </a:solidFill>
                <a:latin typeface="Arial"/>
              </a:rPr>
              <a:t>Empowering the engineering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5647A"/>
                </a:solidFill>
                <a:latin typeface="Courier New"/>
              </a:rPr>
              <a:t>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81447" cy="196596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04288"/>
            <a:ext cx="4669383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1657A6"/>
                </a:solidFill>
                <a:latin typeface="Courier New"/>
              </a:rPr>
              <a:t>DEVELOPERS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500" b="0" i="0">
                <a:solidFill>
                  <a:srgbClr val="101B2D"/>
                </a:solidFill>
                <a:latin typeface="Georgia"/>
              </a:rPr>
              <a:t>Less time on repetitive clean-up work. More time building what actually matters.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181447" cy="196596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4759" y="2304288"/>
            <a:ext cx="4669383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1657A6"/>
                </a:solidFill>
                <a:latin typeface="Courier New"/>
              </a:rPr>
              <a:t>ENGINEERING MANAGERS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500" b="0" i="0">
                <a:solidFill>
                  <a:srgbClr val="101B2D"/>
                </a:solidFill>
                <a:latin typeface="Georgia"/>
              </a:rPr>
              <a:t>Steady, predictable quality improvement you can see every sprint — not just a scramble before release.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5181447" cy="196596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498848"/>
            <a:ext cx="4669383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1657A6"/>
                </a:solidFill>
                <a:latin typeface="Courier New"/>
              </a:rPr>
              <a:t>VPS &amp; CTOS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500" b="0" i="0">
                <a:solidFill>
                  <a:srgbClr val="101B2D"/>
                </a:solidFill>
                <a:latin typeface="Georgia"/>
              </a:rPr>
              <a:t>A lower-risk codebase and a healthier engineering organization, without adding headcount.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4297680"/>
            <a:ext cx="5181447" cy="196596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4498848"/>
            <a:ext cx="4669383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1657A6"/>
                </a:solidFill>
                <a:latin typeface="Courier New"/>
              </a:rPr>
              <a:t>LEADERSHIP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500" b="0" i="0">
                <a:solidFill>
                  <a:srgbClr val="101B2D"/>
                </a:solidFill>
                <a:latin typeface="Georgia"/>
              </a:rPr>
              <a:t>Faster time-to-market — quality and security work happens continuously, not as a blocker before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1657A6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1657A6"/>
                </a:solidFill>
                <a:latin typeface="Courier New"/>
              </a:rPr>
              <a:t>3 — CORE ADVANTAGES OF THE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101B2D"/>
                </a:solidFill>
                <a:latin typeface="Arial"/>
              </a:rPr>
              <a:t>Enterprise speed &amp; enterprise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5647A"/>
                </a:solidFill>
                <a:latin typeface="Courier New"/>
              </a:rPr>
              <a:t>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81447" cy="406908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8727" y="2103120"/>
            <a:ext cx="5181447" cy="406908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40864"/>
            <a:ext cx="4596231" cy="3611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 spc="120">
                <a:solidFill>
                  <a:srgbClr val="1657A6"/>
                </a:solidFill>
                <a:latin typeface="Courier New"/>
              </a:rPr>
              <a:t>SPEED</a:t>
            </a:r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sz="14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450" b="0" i="0">
                <a:solidFill>
                  <a:srgbClr val="101B2D"/>
                </a:solidFill>
                <a:latin typeface="Georgia"/>
              </a:rPr>
              <a:t>Fixes dozens of files in one run — in minutes, not days</a:t>
            </a:r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sz="14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450" b="0" i="0">
                <a:solidFill>
                  <a:srgbClr val="101B2D"/>
                </a:solidFill>
                <a:latin typeface="Georgia"/>
              </a:rPr>
              <a:t>Runs continuously, not just in a pre-release scramble</a:t>
            </a:r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sz="14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450" b="0" i="0">
                <a:solidFill>
                  <a:srgbClr val="101B2D"/>
                </a:solidFill>
                <a:latin typeface="Georgia"/>
              </a:rPr>
              <a:t>One consistent standard, applied every single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304288"/>
            <a:ext cx="4596231" cy="370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 spc="120">
                <a:solidFill>
                  <a:srgbClr val="1657A6"/>
                </a:solidFill>
                <a:latin typeface="Courier New"/>
              </a:rPr>
              <a:t>SECURITY</a:t>
            </a:r>
          </a:p>
          <a:p>
            <a:pPr>
              <a:lnSpc>
                <a:spcPct val="128000"/>
              </a:lnSpc>
              <a:spcBef>
                <a:spcPts val="1000"/>
              </a:spcBef>
            </a:pPr>
            <a:r>
              <a:rPr sz="13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300" b="0" i="0">
                <a:solidFill>
                  <a:srgbClr val="101B2D"/>
                </a:solidFill>
                <a:latin typeface="Georgia"/>
              </a:rPr>
              <a:t>Every fix is compiled, tested, and re-checked before it's accepted</a:t>
            </a:r>
          </a:p>
          <a:p>
            <a:pPr>
              <a:lnSpc>
                <a:spcPct val="128000"/>
              </a:lnSpc>
              <a:spcBef>
                <a:spcPts val="1000"/>
              </a:spcBef>
            </a:pPr>
            <a:r>
              <a:rPr sz="13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300" b="0" i="0">
                <a:solidFill>
                  <a:srgbClr val="101B2D"/>
                </a:solidFill>
                <a:latin typeface="Georgia"/>
              </a:rPr>
              <a:t>Strictly scoped to Sonar fixes only — it politely declines anything else</a:t>
            </a:r>
          </a:p>
          <a:p>
            <a:pPr>
              <a:lnSpc>
                <a:spcPct val="128000"/>
              </a:lnSpc>
              <a:spcBef>
                <a:spcPts val="1000"/>
              </a:spcBef>
            </a:pPr>
            <a:r>
              <a:rPr sz="13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300" b="0" i="0">
                <a:solidFill>
                  <a:srgbClr val="101B2D"/>
                </a:solidFill>
                <a:latin typeface="Georgia"/>
              </a:rPr>
              <a:t>Instructed to never introduce new issues — stays within the exact flagged problem</a:t>
            </a:r>
          </a:p>
          <a:p>
            <a:pPr>
              <a:lnSpc>
                <a:spcPct val="128000"/>
              </a:lnSpc>
              <a:spcBef>
                <a:spcPts val="1000"/>
              </a:spcBef>
            </a:pPr>
            <a:r>
              <a:rPr sz="13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300" b="0" i="0">
                <a:solidFill>
                  <a:srgbClr val="101B2D"/>
                </a:solidFill>
                <a:latin typeface="Georgia"/>
              </a:rPr>
              <a:t>Sensitive judgment calls are flagged for a human — never guessed</a:t>
            </a:r>
          </a:p>
          <a:p>
            <a:pPr>
              <a:lnSpc>
                <a:spcPct val="128000"/>
              </a:lnSpc>
              <a:spcBef>
                <a:spcPts val="1000"/>
              </a:spcBef>
            </a:pPr>
            <a:r>
              <a:rPr sz="13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300" b="0" i="0">
                <a:solidFill>
                  <a:srgbClr val="101B2D"/>
                </a:solidFill>
                <a:latin typeface="Georgia"/>
              </a:rPr>
              <a:t>Connects to GitHub and Sonar only through secure, scoped API tokens</a:t>
            </a:r>
          </a:p>
          <a:p>
            <a:pPr>
              <a:lnSpc>
                <a:spcPct val="128000"/>
              </a:lnSpc>
              <a:spcBef>
                <a:spcPts val="1000"/>
              </a:spcBef>
            </a:pPr>
            <a:r>
              <a:rPr sz="13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300" b="0" i="0">
                <a:solidFill>
                  <a:srgbClr val="101B2D"/>
                </a:solidFill>
                <a:latin typeface="Georgia"/>
              </a:rPr>
              <a:t>Every run starts from a clean workspace on a brand-new branch — nothing carries 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1657A6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1657A6"/>
                </a:solidFill>
                <a:latin typeface="Courier New"/>
              </a:rPr>
              <a:t>COST &amp;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101B2D"/>
                </a:solidFill>
                <a:latin typeface="Arial"/>
              </a:rPr>
              <a:t>Pay for what you use — nothing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5647A"/>
                </a:solidFill>
                <a:latin typeface="Courier New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500" b="0" i="0">
                <a:solidFill>
                  <a:srgbClr val="101B2D"/>
                </a:solidFill>
                <a:latin typeface="Georgia"/>
              </a:rPr>
              <a:t>The Agent runs on Google's enterprise Gemini API — a metered, pay-per-use model. There's no flat, black-box license fee to guess 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181447" cy="306324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3319272"/>
            <a:ext cx="4669383" cy="2551176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3520440"/>
            <a:ext cx="4193895" cy="2185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200" b="1" i="0">
                <a:solidFill>
                  <a:srgbClr val="1657A6"/>
                </a:solidFill>
                <a:latin typeface="Courier New"/>
              </a:rPr>
              <a:t>~275K tokens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300" b="0" i="0">
                <a:solidFill>
                  <a:srgbClr val="55647A"/>
                </a:solidFill>
                <a:latin typeface="Georgia"/>
              </a:rPr>
              <a:t>consumed in a real, complete run that fixed 16 files, start to finish — exactly what today's runs actually use, not an estimate.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3063240"/>
            <a:ext cx="5181447" cy="306324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1335" y="3319272"/>
            <a:ext cx="4596231" cy="2606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1" i="0" spc="100">
                <a:solidFill>
                  <a:srgbClr val="1657A6"/>
                </a:solidFill>
                <a:latin typeface="Courier New"/>
              </a:rPr>
              <a:t>FULLY TRANSPARENT</a:t>
            </a:r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sz="14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01B2D"/>
                </a:solidFill>
                <a:latin typeface="Georgia"/>
              </a:rPr>
              <a:t>Every run ends with a full usage report — exact tokens consumed, every time</a:t>
            </a:r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sz="14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01B2D"/>
                </a:solidFill>
                <a:latin typeface="Georgia"/>
              </a:rPr>
              <a:t>Cost scales naturally with usage — a small project costs little</a:t>
            </a:r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sz="14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01B2D"/>
                </a:solidFill>
                <a:latin typeface="Georgia"/>
              </a:rPr>
              <a:t>Nothing hidden — engineering and finance both see exactly what was spent, run by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1657A6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1657A6"/>
                </a:solidFill>
                <a:latin typeface="Courier New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2800" b="1" i="0">
                <a:solidFill>
                  <a:srgbClr val="101B2D"/>
                </a:solidFill>
                <a:latin typeface="Arial"/>
              </a:rPr>
              <a:t>What's powering this, and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5647A"/>
                </a:solidFill>
                <a:latin typeface="Courier New"/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55647A"/>
                </a:solidFill>
                <a:latin typeface="Courier New"/>
              </a:rPr>
              <a:t>TECH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1002182" cy="603504"/>
          </a:xfrm>
          <a:prstGeom prst="roundRect">
            <a:avLst>
              <a:gd name="adj" fmla="val 14000"/>
            </a:avLst>
          </a:prstGeom>
          <a:solidFill>
            <a:srgbClr val="F3F7FC"/>
          </a:solidFill>
          <a:ln w="12700">
            <a:solidFill>
              <a:srgbClr val="B7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01B2D"/>
                </a:solidFill>
                <a:latin typeface="Arial"/>
              </a:rPr>
              <a:t>Gemini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5647A"/>
                </a:solidFill>
                <a:latin typeface="Courier New"/>
              </a:rPr>
              <a:t>AI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98294" y="2121408"/>
            <a:ext cx="1422806" cy="603504"/>
          </a:xfrm>
          <a:prstGeom prst="roundRect">
            <a:avLst>
              <a:gd name="adj" fmla="val 14000"/>
            </a:avLst>
          </a:prstGeom>
          <a:solidFill>
            <a:srgbClr val="F3F7FC"/>
          </a:solidFill>
          <a:ln w="12700">
            <a:solidFill>
              <a:srgbClr val="B7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01B2D"/>
                </a:solidFill>
                <a:latin typeface="Arial"/>
              </a:rPr>
              <a:t>Google ADK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5647A"/>
                </a:solidFill>
                <a:latin typeface="Courier New"/>
              </a:rPr>
              <a:t>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5692" y="2121408"/>
            <a:ext cx="1422806" cy="603504"/>
          </a:xfrm>
          <a:prstGeom prst="roundRect">
            <a:avLst>
              <a:gd name="adj" fmla="val 14000"/>
            </a:avLst>
          </a:prstGeom>
          <a:solidFill>
            <a:srgbClr val="F3F7FC"/>
          </a:solidFill>
          <a:ln w="12700">
            <a:solidFill>
              <a:srgbClr val="B7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01B2D"/>
                </a:solidFill>
                <a:latin typeface="Arial"/>
              </a:rPr>
              <a:t>Python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5647A"/>
                </a:solidFill>
                <a:latin typeface="Courier New"/>
              </a:rPr>
              <a:t>AGENT 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3090" y="2121408"/>
            <a:ext cx="1338681" cy="603504"/>
          </a:xfrm>
          <a:prstGeom prst="roundRect">
            <a:avLst>
              <a:gd name="adj" fmla="val 14000"/>
            </a:avLst>
          </a:prstGeom>
          <a:solidFill>
            <a:srgbClr val="F3F7FC"/>
          </a:solidFill>
          <a:ln w="12700">
            <a:solidFill>
              <a:srgbClr val="B7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01B2D"/>
                </a:solidFill>
                <a:latin typeface="Arial"/>
              </a:rPr>
              <a:t>SonarQube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5647A"/>
                </a:solidFill>
                <a:latin typeface="Courier New"/>
              </a:rPr>
              <a:t>CODE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52928"/>
            <a:ext cx="1506931" cy="603504"/>
          </a:xfrm>
          <a:prstGeom prst="roundRect">
            <a:avLst>
              <a:gd name="adj" fmla="val 14000"/>
            </a:avLst>
          </a:prstGeom>
          <a:solidFill>
            <a:srgbClr val="F3F7FC"/>
          </a:solidFill>
          <a:ln w="12700">
            <a:solidFill>
              <a:srgbClr val="B7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01B2D"/>
                </a:solidFill>
                <a:latin typeface="Arial"/>
              </a:rPr>
              <a:t>GitHub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5647A"/>
                </a:solidFill>
                <a:latin typeface="Courier New"/>
              </a:rPr>
              <a:t>SOURCE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3043" y="2852928"/>
            <a:ext cx="1591055" cy="603504"/>
          </a:xfrm>
          <a:prstGeom prst="roundRect">
            <a:avLst>
              <a:gd name="adj" fmla="val 14000"/>
            </a:avLst>
          </a:prstGeom>
          <a:solidFill>
            <a:srgbClr val="F3F7FC"/>
          </a:solidFill>
          <a:ln w="12700">
            <a:solidFill>
              <a:srgbClr val="B7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01B2D"/>
                </a:solidFill>
                <a:latin typeface="Arial"/>
              </a:rPr>
              <a:t>Java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5647A"/>
                </a:solidFill>
                <a:latin typeface="Courier New"/>
              </a:rPr>
              <a:t>TARGET LANGUAGE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8690" y="2852928"/>
            <a:ext cx="1506931" cy="603504"/>
          </a:xfrm>
          <a:prstGeom prst="roundRect">
            <a:avLst>
              <a:gd name="adj" fmla="val 14000"/>
            </a:avLst>
          </a:prstGeom>
          <a:solidFill>
            <a:srgbClr val="F3F7FC"/>
          </a:solidFill>
          <a:ln w="12700">
            <a:solidFill>
              <a:srgbClr val="B7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01B2D"/>
                </a:solidFill>
                <a:latin typeface="Arial"/>
              </a:rPr>
              <a:t>Maven / Gradle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5647A"/>
                </a:solidFill>
                <a:latin typeface="Courier New"/>
              </a:rPr>
              <a:t>BUILD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0213" y="2852928"/>
            <a:ext cx="1591055" cy="603504"/>
          </a:xfrm>
          <a:prstGeom prst="roundRect">
            <a:avLst>
              <a:gd name="adj" fmla="val 14000"/>
            </a:avLst>
          </a:prstGeom>
          <a:solidFill>
            <a:srgbClr val="F3F7FC"/>
          </a:solidFill>
          <a:ln w="12700">
            <a:solidFill>
              <a:srgbClr val="B7C4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01B2D"/>
                </a:solidFill>
                <a:latin typeface="Arial"/>
              </a:rPr>
              <a:t>GCP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5647A"/>
                </a:solidFill>
                <a:latin typeface="Courier New"/>
              </a:rPr>
              <a:t>PLANNED 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55647A"/>
                </a:solidFill>
                <a:latin typeface="Courier New"/>
              </a:rPr>
              <a:t>HOW IT 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1889699" cy="1965960"/>
          </a:xfrm>
          <a:prstGeom prst="roundRect">
            <a:avLst>
              <a:gd name="adj" fmla="val 7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769" y="3950207"/>
            <a:ext cx="457200" cy="457200"/>
          </a:xfrm>
          <a:prstGeom prst="ellipse">
            <a:avLst/>
          </a:prstGeom>
          <a:solidFill>
            <a:srgbClr val="165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535423"/>
            <a:ext cx="1633667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 spc="80">
                <a:solidFill>
                  <a:srgbClr val="2C4870"/>
                </a:solidFill>
                <a:latin typeface="Courier New"/>
              </a:rPr>
              <a:t>CONNECT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</a:pPr>
            <a:r>
              <a:rPr sz="1100" b="0" i="0">
                <a:solidFill>
                  <a:srgbClr val="55647A"/>
                </a:solidFill>
                <a:latin typeface="Georgia"/>
              </a:rPr>
              <a:t>Securely links to your GitHub &amp; SonarQube using API tokens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21219.0" y="4178807"/>
            <a:ext cx="320040.0" cy="0"/>
          </a:xfrm>
          <a:prstGeom prst="line">
            <a:avLst/>
          </a:prstGeom>
          <a:ln w="19050">
            <a:solidFill>
              <a:srgbClr val="B7C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941259" y="3749039"/>
            <a:ext cx="1889699" cy="1965960"/>
          </a:xfrm>
          <a:prstGeom prst="roundRect">
            <a:avLst>
              <a:gd name="adj" fmla="val 7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57508" y="3950207"/>
            <a:ext cx="457200" cy="457200"/>
          </a:xfrm>
          <a:prstGeom prst="ellipse">
            <a:avLst/>
          </a:prstGeom>
          <a:solidFill>
            <a:srgbClr val="165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9275" y="4535423"/>
            <a:ext cx="1633667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 spc="80">
                <a:solidFill>
                  <a:srgbClr val="2C4870"/>
                </a:solidFill>
                <a:latin typeface="Courier New"/>
              </a:rPr>
              <a:t>FETCH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</a:pPr>
            <a:r>
              <a:rPr sz="1100" b="0" i="0">
                <a:solidFill>
                  <a:srgbClr val="55647A"/>
                </a:solidFill>
                <a:latin typeface="Georgia"/>
              </a:rPr>
              <a:t>Pulls the current list of code quality &amp; security issues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30958.0" y="4178807"/>
            <a:ext cx="320040.0" cy="0"/>
          </a:xfrm>
          <a:prstGeom prst="line">
            <a:avLst/>
          </a:prstGeom>
          <a:ln w="19050">
            <a:solidFill>
              <a:srgbClr val="B7C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0998" y="3749039"/>
            <a:ext cx="1889699" cy="1965960"/>
          </a:xfrm>
          <a:prstGeom prst="roundRect">
            <a:avLst>
              <a:gd name="adj" fmla="val 7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67247" y="3950207"/>
            <a:ext cx="457200" cy="457200"/>
          </a:xfrm>
          <a:prstGeom prst="ellipse">
            <a:avLst/>
          </a:prstGeom>
          <a:solidFill>
            <a:srgbClr val="165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9014" y="4535423"/>
            <a:ext cx="1633667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 spc="80">
                <a:solidFill>
                  <a:srgbClr val="2C4870"/>
                </a:solidFill>
                <a:latin typeface="Courier New"/>
              </a:rPr>
              <a:t>FIX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</a:pPr>
            <a:r>
              <a:rPr sz="1100" b="0" i="0">
                <a:solidFill>
                  <a:srgbClr val="55647A"/>
                </a:solidFill>
                <a:latin typeface="Georgia"/>
              </a:rPr>
              <a:t>AI generates a fix for one issue at a time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697.0" y="4178807"/>
            <a:ext cx="320040.0" cy="0"/>
          </a:xfrm>
          <a:prstGeom prst="line">
            <a:avLst/>
          </a:prstGeom>
          <a:ln w="19050">
            <a:solidFill>
              <a:srgbClr val="B7C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60737" y="3749039"/>
            <a:ext cx="1889699" cy="1965960"/>
          </a:xfrm>
          <a:prstGeom prst="roundRect">
            <a:avLst>
              <a:gd name="adj" fmla="val 7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76986" y="3950207"/>
            <a:ext cx="457200" cy="457200"/>
          </a:xfrm>
          <a:prstGeom prst="ellipse">
            <a:avLst/>
          </a:prstGeom>
          <a:solidFill>
            <a:srgbClr val="165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753" y="4535423"/>
            <a:ext cx="1633667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 spc="80">
                <a:solidFill>
                  <a:srgbClr val="2C4870"/>
                </a:solidFill>
                <a:latin typeface="Courier New"/>
              </a:rPr>
              <a:t>VERIFY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</a:pPr>
            <a:r>
              <a:rPr sz="1100" b="0" i="0">
                <a:solidFill>
                  <a:srgbClr val="55647A"/>
                </a:solidFill>
                <a:latin typeface="Georgia"/>
              </a:rPr>
              <a:t>Every fix is built, tested, and automatically re-scanned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50436.0" y="4178807"/>
            <a:ext cx="320040.0" cy="0"/>
          </a:xfrm>
          <a:prstGeom prst="line">
            <a:avLst/>
          </a:prstGeom>
          <a:ln w="19050">
            <a:solidFill>
              <a:srgbClr val="B7C4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70476" y="3749039"/>
            <a:ext cx="1889699" cy="1965960"/>
          </a:xfrm>
          <a:prstGeom prst="roundRect">
            <a:avLst>
              <a:gd name="adj" fmla="val 7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86725" y="3950207"/>
            <a:ext cx="457200" cy="457200"/>
          </a:xfrm>
          <a:prstGeom prst="ellipse">
            <a:avLst/>
          </a:prstGeom>
          <a:solidFill>
            <a:srgbClr val="165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8492" y="4535423"/>
            <a:ext cx="1633667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 spc="80">
                <a:solidFill>
                  <a:srgbClr val="2C4870"/>
                </a:solidFill>
                <a:latin typeface="Courier New"/>
              </a:rPr>
              <a:t>DELIVER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</a:pPr>
            <a:r>
              <a:rPr sz="1100" b="0" i="0">
                <a:solidFill>
                  <a:srgbClr val="55647A"/>
                </a:solidFill>
                <a:latin typeface="Georgia"/>
              </a:rPr>
              <a:t>Verified fixes land on a new branch, ready for your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1657A6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1657A6"/>
                </a:solidFill>
                <a:latin typeface="Courier New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101B2D"/>
                </a:solidFill>
                <a:latin typeface="Arial"/>
              </a:rPr>
              <a:t>One file, fully fixed —</a:t>
            </a:r>
          </a:p>
          <a:p>
            <a:pPr>
              <a:lnSpc>
                <a:spcPct val="106000"/>
              </a:lnSpc>
            </a:pPr>
            <a:r>
              <a:rPr sz="3000" b="1" i="0">
                <a:solidFill>
                  <a:srgbClr val="101B2D"/>
                </a:solidFill>
                <a:latin typeface="Arial"/>
              </a:rPr>
              <a:t>not issue by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5647A"/>
                </a:solidFill>
                <a:latin typeface="Courier New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500" b="0" i="0">
                <a:solidFill>
                  <a:srgbClr val="101B2D"/>
                </a:solidFill>
                <a:latin typeface="Georgia"/>
              </a:rPr>
              <a:t>Most tools fix problems one line at a time — the same file gets opened and edited over and over, and fixes can quietly work against each other. </a:t>
            </a:r>
            <a:r>
              <a:rPr sz="1500" b="1" i="0">
                <a:solidFill>
                  <a:srgbClr val="101B2D"/>
                </a:solidFill>
                <a:latin typeface="Georgia"/>
              </a:rPr>
              <a:t>The Agent looks at every issue in a file together, and produces one complete, coherent fix in a single pass.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29000"/>
            <a:ext cx="5166360" cy="251460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3429000"/>
            <a:ext cx="5166360" cy="2514600"/>
          </a:xfrm>
          <a:prstGeom prst="roundRect">
            <a:avLst>
              <a:gd name="adj" fmla="val 5000"/>
            </a:avLst>
          </a:prstGeom>
          <a:solidFill>
            <a:srgbClr val="E3EEFA"/>
          </a:solidFill>
          <a:ln w="12700">
            <a:solidFill>
              <a:srgbClr val="1657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648456"/>
            <a:ext cx="4581144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1" i="0" spc="100">
                <a:solidFill>
                  <a:srgbClr val="55647A"/>
                </a:solidFill>
                <a:latin typeface="Courier New"/>
              </a:rPr>
              <a:t>LINE-BY-LINE (THE OLD WAY)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55647A"/>
                </a:solidFill>
                <a:latin typeface="Courier New"/>
              </a:rPr>
              <a:t>•  </a:t>
            </a:r>
            <a:r>
              <a:rPr sz="1400" b="0" i="0">
                <a:solidFill>
                  <a:srgbClr val="55647A"/>
                </a:solidFill>
                <a:latin typeface="Georgia"/>
              </a:rPr>
              <a:t>Each issue fixed in isolation, one small edit at a time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55647A"/>
                </a:solidFill>
                <a:latin typeface="Courier New"/>
              </a:rPr>
              <a:t>•  </a:t>
            </a:r>
            <a:r>
              <a:rPr sz="1400" b="0" i="0">
                <a:solidFill>
                  <a:srgbClr val="55647A"/>
                </a:solidFill>
                <a:latin typeface="Georgia"/>
              </a:rPr>
              <a:t>Fixes can quietly conflict with each other in the same file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55647A"/>
                </a:solidFill>
                <a:latin typeface="Courier New"/>
              </a:rPr>
              <a:t>•  </a:t>
            </a:r>
            <a:r>
              <a:rPr sz="1400" b="0" i="0">
                <a:solidFill>
                  <a:srgbClr val="55647A"/>
                </a:solidFill>
                <a:latin typeface="Georgia"/>
              </a:rPr>
              <a:t>Many small AI calls — slower and more expensive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55647A"/>
                </a:solidFill>
                <a:latin typeface="Courier New"/>
              </a:rPr>
              <a:t>•  </a:t>
            </a:r>
            <a:r>
              <a:rPr sz="1400" b="0" i="0">
                <a:solidFill>
                  <a:srgbClr val="55647A"/>
                </a:solidFill>
                <a:latin typeface="Georgia"/>
              </a:rPr>
              <a:t>The file is only “done” after many separate passes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3648456"/>
            <a:ext cx="4581144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1" i="0" spc="100">
                <a:solidFill>
                  <a:srgbClr val="1657A6"/>
                </a:solidFill>
                <a:latin typeface="Courier New"/>
              </a:rPr>
              <a:t>FILE-BY-FILE (OUR APPROACH)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01B2D"/>
                </a:solidFill>
                <a:latin typeface="Georgia"/>
              </a:rPr>
              <a:t>Every issue in the file is understood together, in context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01B2D"/>
                </a:solidFill>
                <a:latin typeface="Georgia"/>
              </a:rPr>
              <a:t>One coherent, complete fix for the whole file, in a single pass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01B2D"/>
                </a:solidFill>
                <a:latin typeface="Georgia"/>
              </a:rPr>
              <a:t>Fewer AI calls — faster and more cost-efficient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1E9563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01B2D"/>
                </a:solidFill>
                <a:latin typeface="Georgia"/>
              </a:rPr>
              <a:t>The whole file is verified as one working unit before moving 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1657A6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1657A6"/>
                </a:solidFill>
                <a:latin typeface="Courier New"/>
              </a:rPr>
              <a:t>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3200" b="1" i="0">
                <a:solidFill>
                  <a:srgbClr val="101B2D"/>
                </a:solidFill>
                <a:latin typeface="Arial"/>
              </a:rPr>
              <a:t>Three ways to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5647A"/>
                </a:solidFill>
                <a:latin typeface="Courier New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500" b="0" i="1">
                <a:solidFill>
                  <a:srgbClr val="55647A"/>
                </a:solidFill>
                <a:latin typeface="Georgia"/>
              </a:rPr>
              <a:t>The Agent isn't locked to one workflow — it fits into however your team already 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3393338" cy="310896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172968"/>
            <a:ext cx="2881274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1657A6"/>
                </a:solidFill>
                <a:latin typeface="Courier New"/>
              </a:rPr>
              <a:t>LOCAL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500" b="0" i="0">
                <a:solidFill>
                  <a:srgbClr val="101B2D"/>
                </a:solidFill>
                <a:latin typeface="Georgia"/>
              </a:rPr>
              <a:t>Run it directly from a developer's machine, or the ADK command line (adk run) — the simplest way to try it against a real project today.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971800"/>
            <a:ext cx="3393338" cy="310896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5210" y="3172968"/>
            <a:ext cx="2881274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1657A6"/>
                </a:solidFill>
                <a:latin typeface="Courier New"/>
              </a:rPr>
              <a:t>ADK WEB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500" b="0" i="0">
                <a:solidFill>
                  <a:srgbClr val="101B2D"/>
                </a:solidFill>
                <a:latin typeface="Georgia"/>
              </a:rPr>
              <a:t>A browser-based chat interface — tell it which repo to look at, and watch it fetch, fix, and verify in real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2971800"/>
            <a:ext cx="3393338" cy="310896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2868" y="3172968"/>
            <a:ext cx="2881274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1657A6"/>
                </a:solidFill>
                <a:latin typeface="Courier New"/>
              </a:rPr>
              <a:t>GITHUB WORKFLOW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500" b="0" i="0">
                <a:solidFill>
                  <a:srgbClr val="101B2D"/>
                </a:solidFill>
                <a:latin typeface="Georgia"/>
              </a:rPr>
              <a:t>Wire it into your CI/CD pipeline for scheduled or on-demand runs — fully hands-off, triggered automatically.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1657A6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1657A6"/>
                </a:solidFill>
                <a:latin typeface="Courier New"/>
              </a:rPr>
              <a:t>4 — PENDING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2800" b="1" i="0">
                <a:solidFill>
                  <a:srgbClr val="101B2D"/>
                </a:solidFill>
                <a:latin typeface="Arial"/>
              </a:rPr>
              <a:t>Current MVP status &amp;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5647A"/>
                </a:solidFill>
                <a:latin typeface="Courier New"/>
              </a:rPr>
              <a:t>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 spc="50">
                <a:solidFill>
                  <a:srgbClr val="1657A6"/>
                </a:solidFill>
                <a:latin typeface="Courier New"/>
              </a:rPr>
              <a:t>TODAY —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9152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01B2D"/>
                </a:solidFill>
                <a:latin typeface="Georgia"/>
              </a:rPr>
              <a:t>Working today on real Java projects: automatic fixing with full verification, integrated with SonarQube. Proven, not theoretical.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27248"/>
            <a:ext cx="10698480" cy="731520"/>
          </a:xfrm>
          <a:prstGeom prst="roundRect">
            <a:avLst>
              <a:gd name="adj" fmla="val 6000"/>
            </a:avLst>
          </a:prstGeom>
          <a:solidFill>
            <a:srgbClr val="F7E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227832"/>
            <a:ext cx="10195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250" b="1" i="0">
                <a:solidFill>
                  <a:srgbClr val="B8791C"/>
                </a:solidFill>
                <a:latin typeface="Georgia"/>
              </a:rPr>
              <a:t>Still maturing: </a:t>
            </a:r>
            <a:r>
              <a:rPr sz="1250" b="0" i="0">
                <a:solidFill>
                  <a:srgbClr val="101B2D"/>
                </a:solidFill>
                <a:latin typeface="Georgia"/>
              </a:rPr>
              <a:t>on projects with a very large backlog of issues, reaching a perfect score in a single pass isn't guaranteed yet — every run shows real, measurable progress, and this keeps improving.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41648"/>
            <a:ext cx="10698480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2000"/>
              </a:lnSpc>
              <a:spcAft>
                <a:spcPts val="900"/>
              </a:spcAft>
            </a:pPr>
            <a:r>
              <a:rPr sz="1200" b="1" i="0">
                <a:solidFill>
                  <a:srgbClr val="1657A6"/>
                </a:solidFill>
                <a:latin typeface="Courier New"/>
              </a:rPr>
              <a:t>A   </a:t>
            </a:r>
            <a:r>
              <a:rPr sz="1250" b="1" i="0">
                <a:solidFill>
                  <a:srgbClr val="101B2D"/>
                </a:solidFill>
                <a:latin typeface="Georgia"/>
              </a:rPr>
              <a:t>More specialized agents — </a:t>
            </a:r>
            <a:r>
              <a:rPr sz="1250" b="0" i="0">
                <a:solidFill>
                  <a:srgbClr val="55647A"/>
                </a:solidFill>
                <a:latin typeface="Georgia"/>
              </a:rPr>
              <a:t>one focused on duplication, one on test coverage, and more, so teams can target exactly what they need.</a:t>
            </a:r>
          </a:p>
          <a:p>
            <a:pPr>
              <a:lnSpc>
                <a:spcPct val="132000"/>
              </a:lnSpc>
              <a:spcAft>
                <a:spcPts val="900"/>
              </a:spcAft>
            </a:pPr>
            <a:r>
              <a:rPr sz="1200" b="1" i="0">
                <a:solidFill>
                  <a:srgbClr val="1657A6"/>
                </a:solidFill>
                <a:latin typeface="Courier New"/>
              </a:rPr>
              <a:t>B   </a:t>
            </a:r>
            <a:r>
              <a:rPr sz="1250" b="1" i="0">
                <a:solidFill>
                  <a:srgbClr val="101B2D"/>
                </a:solidFill>
                <a:latin typeface="Georgia"/>
              </a:rPr>
              <a:t>Support for more languages — </a:t>
            </a:r>
            <a:r>
              <a:rPr sz="1250" b="0" i="0">
                <a:solidFill>
                  <a:srgbClr val="55647A"/>
                </a:solidFill>
                <a:latin typeface="Georgia"/>
              </a:rPr>
              <a:t>beyond Java, extending to TypeScript/JavaScript, Python, and others.</a:t>
            </a:r>
          </a:p>
          <a:p>
            <a:pPr>
              <a:lnSpc>
                <a:spcPct val="132000"/>
              </a:lnSpc>
              <a:spcAft>
                <a:spcPts val="900"/>
              </a:spcAft>
            </a:pPr>
            <a:r>
              <a:rPr sz="1200" b="1" i="0">
                <a:solidFill>
                  <a:srgbClr val="1657A6"/>
                </a:solidFill>
                <a:latin typeface="Courier New"/>
              </a:rPr>
              <a:t>C   </a:t>
            </a:r>
            <a:r>
              <a:rPr sz="1250" b="1" i="0">
                <a:solidFill>
                  <a:srgbClr val="101B2D"/>
                </a:solidFill>
                <a:latin typeface="Georgia"/>
              </a:rPr>
              <a:t>Lower-cost options — </a:t>
            </a:r>
            <a:r>
              <a:rPr sz="1250" b="0" i="0">
                <a:solidFill>
                  <a:srgbClr val="55647A"/>
                </a:solidFill>
                <a:latin typeface="Georgia"/>
              </a:rPr>
              <a:t>private, self-hosted AI models for high-volume use.</a:t>
            </a:r>
          </a:p>
          <a:p>
            <a:pPr>
              <a:lnSpc>
                <a:spcPct val="132000"/>
              </a:lnSpc>
              <a:spcAft>
                <a:spcPts val="900"/>
              </a:spcAft>
            </a:pPr>
            <a:r>
              <a:rPr sz="1200" b="1" i="0">
                <a:solidFill>
                  <a:srgbClr val="1657A6"/>
                </a:solidFill>
                <a:latin typeface="Courier New"/>
              </a:rPr>
              <a:t>D   </a:t>
            </a:r>
            <a:r>
              <a:rPr sz="1250" b="1" i="0">
                <a:solidFill>
                  <a:srgbClr val="101B2D"/>
                </a:solidFill>
                <a:latin typeface="Georgia"/>
              </a:rPr>
              <a:t>Always-on cloud hosting — </a:t>
            </a:r>
            <a:r>
              <a:rPr sz="1250" b="0" i="0">
                <a:solidFill>
                  <a:srgbClr val="55647A"/>
                </a:solidFill>
                <a:latin typeface="Georgia"/>
              </a:rPr>
              <a:t>moving from a single local machine to scheduled, continuous runs across many projects.</a:t>
            </a:r>
          </a:p>
          <a:p>
            <a:pPr>
              <a:lnSpc>
                <a:spcPct val="132000"/>
              </a:lnSpc>
              <a:spcAft>
                <a:spcPts val="900"/>
              </a:spcAft>
            </a:pPr>
            <a:r>
              <a:rPr sz="1200" b="1" i="0">
                <a:solidFill>
                  <a:srgbClr val="1657A6"/>
                </a:solidFill>
                <a:latin typeface="Courier New"/>
              </a:rPr>
              <a:t>E   </a:t>
            </a:r>
            <a:r>
              <a:rPr sz="1250" b="1" i="0">
                <a:solidFill>
                  <a:srgbClr val="101B2D"/>
                </a:solidFill>
                <a:latin typeface="Georgia"/>
              </a:rPr>
              <a:t>Extend to other tools — </a:t>
            </a:r>
            <a:r>
              <a:rPr sz="1250" b="0" i="0">
                <a:solidFill>
                  <a:srgbClr val="55647A"/>
                </a:solidFill>
                <a:latin typeface="Georgia"/>
              </a:rPr>
              <a:t>once the Sonar agent has matured, apply the same approach to SBOM, Veracode, Coverity, Black Duck, and more.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200" b="1" i="0">
                <a:solidFill>
                  <a:srgbClr val="1657A6"/>
                </a:solidFill>
                <a:latin typeface="Arial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5647A"/>
                </a:solidFill>
                <a:latin typeface="Courier New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